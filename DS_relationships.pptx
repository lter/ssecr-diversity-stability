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5" r:id="rId3"/>
    <p:sldId id="266" r:id="rId4"/>
    <p:sldId id="269" r:id="rId5"/>
    <p:sldId id="257" r:id="rId6"/>
    <p:sldId id="258" r:id="rId7"/>
    <p:sldId id="259" r:id="rId8"/>
    <p:sldId id="260" r:id="rId9"/>
    <p:sldId id="262" r:id="rId10"/>
    <p:sldId id="261" r:id="rId11"/>
    <p:sldId id="270" r:id="rId12"/>
    <p:sldId id="271" r:id="rId13"/>
    <p:sldId id="272" r:id="rId14"/>
    <p:sldId id="273" r:id="rId15"/>
    <p:sldId id="274" r:id="rId16"/>
    <p:sldId id="264" r:id="rId17"/>
    <p:sldId id="276" r:id="rId18"/>
    <p:sldId id="277" r:id="rId19"/>
    <p:sldId id="275" r:id="rId20"/>
    <p:sldId id="280" r:id="rId21"/>
    <p:sldId id="283" r:id="rId22"/>
    <p:sldId id="282" r:id="rId23"/>
    <p:sldId id="281" r:id="rId24"/>
    <p:sldId id="279" r:id="rId25"/>
    <p:sldId id="278" r:id="rId26"/>
    <p:sldId id="263" r:id="rId27"/>
    <p:sldId id="267" r:id="rId28"/>
    <p:sldId id="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21"/>
    <p:restoredTop sz="94668"/>
  </p:normalViewPr>
  <p:slideViewPr>
    <p:cSldViewPr snapToGrid="0">
      <p:cViewPr varScale="1">
        <p:scale>
          <a:sx n="90" d="100"/>
          <a:sy n="90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12:44:54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0,'65'44,"0"-1,5 5,1 1,2 4,1 3,-19-16,2 2,1 1,4 5,0 2,1 2,3 3,1 1,0 1,2 2,1 1,0 0,1 1,1 0,-1-1,-2-2,-1 0,-1-1,-4-4,-1-1,-2-1,-3-3,-2-1,-1-2,16 14,-4-3,-6-6,-3-1,-5-3,-2 0,-5-2,-2 0,0 1,-2 0,-5-6,-3-2,23 30,-7 2,4 1,-21-29,0 1,1 0,0-1,32 34,-30-35,1 0,-1-1,0 0,1-1,-1-1,28 32,-19-16,-13-11,-2-2,-3-4,-2-3,-1 0,-7-4,1 2,5 5,2-1,2 1,-2-3,-5-7,-3-3,-4-4,-2 0,-1-7,-2-50,-3-13,-2-4,-1-4,-1-37,-2 44,0 1,-3-32,0 11,1 4,4 13,-3 2,-2 5,-1 0,-1-1,4 8,0 3,-1 9,-1 5,-1 4,1 4,0 3,3-4,2 3,0-3,0-2,-2 0,-1 0,10 67,-3-11,11 57,1-6,-1 3,-1 4,-5-3,-9-13,0 6,0-5,0-2,0-11,0-8,0-3,0-2,-2-9,0-6,-1-8,-1-9,1 4,0-1,-2-3,-1-2,0-4,-2-2,1-1,-2 5,2-5,-1 6,0-8,-1 3,-5-2,-1-7,-4-5,-5-14,-7-8,-21-14,-1-4,-9-7,9 6,11 9,-6 2,1 6,-3 1,4 4,10 6,10 5,14 3,3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8T12:44:57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4480,'27'-50,"5"-4,-3 12,6-4,7-8,0-7,1-8,1-16,-18 34,1-1,-1 2,1 0,2-4,0-2,3-1,1 0,3-5,2-2,8-12,2-4,-10 18,1-1,0-1,1 0,-1-1,-1 0,-1 0,0 0,-2 0,-1 3,0 0,-2 1,7-23,-2 0,-1-3,-2 0,-1 3,-2 2,-4 8,-2 1,-2 2,1 1,0-2,1 0,0-1,1-1,1-1,1 0,-1 8,1 1,-1 4,1 2,0 2,1 2,1 4,2 2,0 3,1 1,0 3,1-1,-1 0,1 1,1-1,0 2,19-23,-13 14,-8 6,-9 2,-1-1,-4 9,-6 7,-5 3,1 3,0 0,10-3,2 0,-4 1,-4 5,-10 6,-68 21,2 1,-1 5,-7 6,7 1,-1 2,-8 5,-1 1,-6 4,0 1,2-1,2-1,7-4,3-2,13-4,4-2,-14 9,20-5,28-13,6-4,68-50,-20 13,38-24,-34 29,5 11,19-1,8-3,-4 1,-15-1,-18 5,-13 6,-5 6,-2 3,-3 2,0 4,0 7,2 8,0 2,-3-4,0-2,0-1,-1 0,-1 1,-3-5,0-1,-1 0,-3 3,0-3,-3 4,6-1,0 2,3 0,2 4,-5 2,1 0,-2-1,-1-5,2-6,0 2,0 5,0 5,0 7,0 1,0-1,2-5,1-5,0-5,0 0,-2-1,-4 0,-1-1,3 5,0-7,3 5,-1-7,0 8,-2-4,1 5,-1-7,2 0,3 0,-3-1,0 6,-2-7,0 12,-1-9,0 8,1-7,0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8:43:35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2037 0 24575,'0'10'0,"0"2"0,0 1 0,-3 5 0,-2 2 0,-12 8 0,-9 10 0,-16 22 0,14-18 0,-1 3 0,-2 4 0,-2 2-737,-7 5 0,-2-1 737,1-2 0,-2-3 0,-3-5 0,-1-3-430,1-2 0,-1-3 430,2-4 0,-1-3 0,-1-2 0,-1-3 0,-1-1 0,-3-2 0,0-1 0,-1-3 0,-3-2 0,1-2 0,2 0 0,1-1 0,0 0 0,-1 0 0,-2 1 0,-1 0 0,-1-1 0,-1-1 0,-3-1 0,0 1 0,6 0 0,0-1 0,-40 6 0,20-3 0,22-5 0,15-10 351,16-1 1,12 0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8:43:36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24575,'7'8'0,"-3"4"0,0 7 0,7 34 0,6 26-1286,0 18 1286,-6-32 0,1 2-702,-1 1 1,1 3 701,3 12 0,3 3-797,-2-21 1,2 2 0,1 0 796,1-2 0,2 0 0,-1-1 0,10 31 0,-1-2-651,0-8 0,-2-4 651,-6-10 0,-3-3 211,-2-9 1,-1-4-212,10 31 0,-10-26 0,-1-17 1402,-5-2-1402,2 2 617,0-4 1,-7-15-1,-1-12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8:43:39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24575,'5'10'0,"7"9"0,4 12 0,1 8 0,15 23 0,6 2 0,5 7 0,2 9 0,-13-15 0,-7-6 0,-6-14 0,-8-14 0,-4-1 0,3 2 0,2 4 0,5 0 0,1-3 0,-1-4 0,-3-5 0,-4-4 0,-1-1 0,1-2 0,1-3 0,0-1 0,-1 1 0,1 3 0,3-3 0,-4-8 0,-1-8 0,-2-14 0,7-29 0,22-40 0,-14 36 0,1-1 0,1-2 0,0 1 0,1 5 0,1 2 0,2-2 0,2 1 0,2-3 0,2 2 0,-2 3 0,-1 3 0,15-21 0,-22 30 0,-13 17 0,-4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5A025-88D7-6849-BC84-DE23062AB28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2C557-4FD5-CC4B-B6CA-80D78336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3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lake data is very unique, they could be very different year after year!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2C557-4FD5-CC4B-B6CA-80D78336BF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65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total richness can get the opposite results.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2C557-4FD5-CC4B-B6CA-80D78336BF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counter-intuitive, because I thought top-down effect is strong in aquatic ecosystems, but it turns out such effect is stronger in terrestrial ecosystems.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2C557-4FD5-CC4B-B6CA-80D78336BF2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6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6E47-A721-82BC-AE5E-62E34459C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A8468-C7D8-35B9-3F29-CE6DE839A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4224E-C458-F9FD-F6A7-58F6B452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1AC23-7F28-AB4C-BD16-DEC68692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79F04-BF77-FB71-5484-8CC1C2D0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F414-3603-DFCD-D2D3-4F9BF3BF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794B-2C70-E0DC-D1E7-B3B9EC40E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7C3C-F340-31D6-00F1-CE7C671A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7E75B-B1C4-0AC5-130E-8DB7184A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D6448-4A52-67A9-84EC-D01FD6B6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7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A861-9330-2548-956A-A687321B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0E43F-AEEE-7322-3BCD-B73CE067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D743-910F-1299-5A20-64A0B5CD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25930-0A9B-8D10-ED7D-21E58918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9F44-4EDA-3596-16EA-456BE351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8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F08F-D744-055B-5838-93B13512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8C82-55F2-E3E3-6375-AE1F5E0EC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95010-66ED-41DB-1F61-A0878A356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8FC2C-A699-58DC-04F6-CAA515C1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04DF6-CAD3-0F1D-21B5-4ED66352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B249F-8CC6-A80E-0C92-05FFD23D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6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AB8E-1833-4734-0AD1-CC3FEF28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1F195-7894-91A4-B0EA-EE9E773BE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17E18-383F-D047-DD63-D4AF7A920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CD4E5-08D2-DAB2-735A-F80F19EA2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073E4-8B31-C8B4-7659-FA887E902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63212-C16A-88F4-AA3C-84D644EC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1CB42-03F4-0BC3-CE65-46A58CE2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26E1B-C3BE-348F-8458-04383A11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2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C217-CEAC-0BD9-5D91-0AA2FB6F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E877C-ECAE-DF45-A679-2AA8A095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32135-41A2-EB8B-435A-6DBBA03C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8C54-DD19-FB98-0227-10FA600F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7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F264B-3233-0577-0B5D-F988E640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12AC2-9C15-BD57-4974-8EF1D5D2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8B9E5-4A43-0115-8F5D-C58778B1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5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BCB7-A2C6-49E4-3EB5-E2777639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0B4F-290F-5017-781E-C8FA08D6D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7740F-0874-BB5B-310D-02B7F0610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18369-8206-FD63-A790-AC291A56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970BE-83A9-41A3-CD3E-2AEE40D9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FC423-30C4-A020-E112-1BED5E47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1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74C5-F36C-5A13-A059-BDDA806F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F8CD5-A1DF-BE4F-8FA3-5F2B016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C8EA8-0968-CCCD-07DD-EFB026BFB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D568-311B-55FA-B058-82BD7C03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8A08A-0EC7-F8CA-4109-C7AECAE9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98FF7-2ACD-8C59-F45F-2C6CCD67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69BD-9A4C-EFBD-8857-EB1DF0A5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7D39C-07EA-9CEE-F980-2EC04138A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AFEB1-6116-C8DD-8645-3245D8BB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87C42-8986-ACE9-9340-26712796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A05E-72E8-881A-4908-F6DD6647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0D55F-5349-9002-0A0B-C95568023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704F9-8DCB-541F-EBD6-D3C6F0430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06F6-72CA-06F8-B604-8598EE99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7CE3-D40A-3033-837D-9765332A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8FED4-E5E3-A857-156D-64C1A019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5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F74C0-F5E3-4E62-885E-932F7595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8690F-7E8D-B024-FBCE-98609E7D3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598EE-FA83-6223-D34C-A81AAE806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8E328-2142-4042-A1CE-CAC707380CB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4550-DA56-0B0C-2A09-2C16E55F8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F51CD-47EC-714A-DB37-B074C1EF6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3CF98-219E-794B-B88C-39EA7635A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6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customXml" Target="../ink/ink4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1717-8988-9D95-C983-0591FE38D0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Diversity-stability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BCCD8-84C9-2D9D-C68A-C121FF0DD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Junna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0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008C-15B6-A585-F30B-527690B1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90B6F-7AD0-32D1-CF17-1333E06D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5144843" cy="4555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4F3624-A728-7C27-4FEE-C59C8A90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019" y="1762048"/>
            <a:ext cx="4828824" cy="4412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AC62A7-B438-1988-B273-8E3AB94F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939" y="1810658"/>
            <a:ext cx="4478784" cy="409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3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CBE7-D1B4-8710-8773-3B69504E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458F0-4232-AD95-EB17-FDEEB717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4875441" cy="4316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9FEB6-1F58-2B50-9339-C1D31AF8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629" y="1743696"/>
            <a:ext cx="4755707" cy="4210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EF500-13ED-5283-FECF-9EA80AE24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533" y="1743696"/>
            <a:ext cx="4501271" cy="398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7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6C7F-93F7-E95F-F4CA-75DFF413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CDR_oldField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DB02F-B9FE-6D8E-2B72-5AA1000B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548"/>
            <a:ext cx="4165071" cy="3806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47C171-F59C-90D4-2874-F4F33B26C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650" y="2177548"/>
            <a:ext cx="4489653" cy="4102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0E7A4F-EB08-98C1-2D10-CF09CFDE3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347" y="2177547"/>
            <a:ext cx="4489653" cy="410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7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7ED0-9B7C-4DF9-5EDE-61F0448B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JNR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12AA7-2A6D-7919-A5E0-E51883C4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" y="1266617"/>
            <a:ext cx="5512749" cy="5726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59E0F5-541B-EB02-348C-49F0E36E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236" y="1201644"/>
            <a:ext cx="5575300" cy="5791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ECA016-1C30-CE78-7074-C289B1E81B86}"/>
                  </a:ext>
                </a:extLst>
              </p14:cNvPr>
              <p14:cNvContentPartPr/>
              <p14:nvPr/>
            </p14:nvContentPartPr>
            <p14:xfrm>
              <a:off x="2379902" y="3537224"/>
              <a:ext cx="1284120" cy="1337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ECA016-1C30-CE78-7074-C289B1E81B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5902" y="3429224"/>
                <a:ext cx="1391760" cy="15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B56C31-52C0-E018-5B49-E5A0913E4EC8}"/>
                  </a:ext>
                </a:extLst>
              </p14:cNvPr>
              <p14:cNvContentPartPr/>
              <p14:nvPr/>
            </p14:nvContentPartPr>
            <p14:xfrm>
              <a:off x="6267182" y="3739184"/>
              <a:ext cx="864720" cy="161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B56C31-52C0-E018-5B49-E5A0913E4E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3182" y="3631184"/>
                <a:ext cx="972360" cy="18288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E151363-DEB3-B026-46DF-C87450238A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673" y="1938646"/>
            <a:ext cx="4156247" cy="43171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BE56B7-A0C2-08F8-64CA-7D6168F5C12A}"/>
              </a:ext>
            </a:extLst>
          </p:cNvPr>
          <p:cNvSpPr txBox="1"/>
          <p:nvPr/>
        </p:nvSpPr>
        <p:spPr>
          <a:xfrm>
            <a:off x="9382539" y="1266617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relationship</a:t>
            </a:r>
          </a:p>
        </p:txBody>
      </p:sp>
    </p:spTree>
    <p:extLst>
      <p:ext uri="{BB962C8B-B14F-4D97-AF65-F5344CB8AC3E}">
        <p14:creationId xmlns:p14="http://schemas.microsoft.com/office/powerpoint/2010/main" val="280153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3B39-271A-39D3-0679-C94F5A95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35" y="-5787"/>
            <a:ext cx="10515600" cy="1325563"/>
          </a:xfrm>
        </p:spPr>
        <p:txBody>
          <a:bodyPr/>
          <a:lstStyle/>
          <a:p>
            <a:r>
              <a:rPr lang="en-US" dirty="0" err="1"/>
              <a:t>bex_he</a:t>
            </a:r>
            <a:r>
              <a:rPr lang="en-US" dirty="0"/>
              <a:t>  (habitat fine is empty)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4792F-914F-B76E-2B8E-85A5BF32B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671"/>
            <a:ext cx="5210553" cy="5412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F584F-B42D-FEEC-C885-A9613F3BF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04" y="1911625"/>
            <a:ext cx="4206991" cy="4369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C25035-5140-9599-665D-6845794E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985" y="1256235"/>
            <a:ext cx="55753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0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1ACD-E56A-545A-EA02-FAFB1D90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192156"/>
            <a:ext cx="10515600" cy="1325563"/>
          </a:xfrm>
        </p:spPr>
        <p:txBody>
          <a:bodyPr/>
          <a:lstStyle/>
          <a:p>
            <a:r>
              <a:rPr lang="en-US" dirty="0" err="1"/>
              <a:t>bex_ae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B3709-76DA-5EB9-CF35-4D5311795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4789679" cy="4975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89E83C-2117-373E-E475-68183358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437" y="1169505"/>
            <a:ext cx="5575300" cy="579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330014-60E9-0A16-36DC-A2745A971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194" y="1169505"/>
            <a:ext cx="5291432" cy="54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5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C0F1-D429-6D92-2940-71510AF1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bex_se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AA352-E9B2-6FD4-008B-A9468557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9875"/>
            <a:ext cx="4768349" cy="495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911014-7936-7F6B-3172-BF5A5E349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141" y="1539875"/>
            <a:ext cx="4768349" cy="495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8D8AB7-64F0-739C-C7B8-E2D4729CA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695" y="1468644"/>
            <a:ext cx="4905499" cy="509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6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9C4-3981-022A-DEC1-B9CA9A01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392"/>
            <a:ext cx="10515600" cy="1325563"/>
          </a:xfrm>
        </p:spPr>
        <p:txBody>
          <a:bodyPr/>
          <a:lstStyle/>
          <a:p>
            <a:r>
              <a:rPr lang="en-US" dirty="0"/>
              <a:t>ADK----use total richness have worse results</a:t>
            </a:r>
            <a:br>
              <a:rPr lang="en-US" dirty="0"/>
            </a:br>
            <a:r>
              <a:rPr lang="en-US" dirty="0"/>
              <a:t>we cannot use this!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A5955-393A-94DA-48E9-A65E014B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447"/>
            <a:ext cx="5103907" cy="5301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DF39A-0410-59F1-FB3E-25930011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932" y="1543878"/>
            <a:ext cx="5103907" cy="5301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480007-37B4-11BD-6480-44062541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504" y="1797724"/>
            <a:ext cx="4639341" cy="48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05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3F5C-9224-51AE-03A3-2517BDF9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616"/>
            <a:ext cx="10515600" cy="1325563"/>
          </a:xfrm>
        </p:spPr>
        <p:txBody>
          <a:bodyPr/>
          <a:lstStyle/>
          <a:p>
            <a:r>
              <a:rPr lang="en-US" dirty="0"/>
              <a:t>ADK--use plot-annual-average richness have better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E1CEC-3FC3-0057-5910-A403049CB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816192" cy="5002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48F84-A62B-771C-0E72-E3B62E5CC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63" y="1690688"/>
            <a:ext cx="4816192" cy="5002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9857D2-3F8A-861A-FFFA-43946F05E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810" y="1690687"/>
            <a:ext cx="4816193" cy="50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2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BC1E-4410-0AEA-BA5A-F07B8569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USVI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E8BC6-33B5-3DF1-35E1-B9B08F61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5" y="1726193"/>
            <a:ext cx="5081596" cy="4502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0AF5E9-2A5C-CBB1-BF87-4FE37B5BB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468" y="1726193"/>
            <a:ext cx="5205395" cy="4611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E85614-F20D-52FD-7657-5179DB5A9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595" y="1781613"/>
            <a:ext cx="5081596" cy="450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49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35FC-BF13-2E59-3FBF-28D2724B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MCR-fish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57241F-EAAF-E165-41A1-3B0E7FDF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184" y="1690688"/>
            <a:ext cx="4824725" cy="4274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F8DD99-9522-F6C1-441E-8A9CD7353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547" y="1690688"/>
            <a:ext cx="4448618" cy="3941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6A5807-C0C3-0366-146B-A66B66527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3793"/>
            <a:ext cx="4448618" cy="39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37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C1AE-63BA-8FF4-5C6A-A3407685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D0979-DE59-796A-B2DE-BB58D5D1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5444"/>
            <a:ext cx="5262564" cy="4662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B3A5C-3445-A0D6-BE7A-27C13246A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648" y="1945553"/>
            <a:ext cx="4855997" cy="4302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2DBEF5-3578-82D2-38ED-192490595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873" y="1945553"/>
            <a:ext cx="4965457" cy="43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6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B62D047-9772-4BFA-CAC7-F875DE36E0A4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AIMS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6EA58-A998-F034-F3DE-3AB4EC62F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082"/>
            <a:ext cx="5048287" cy="4472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FFE175-32B2-A64D-AB58-701B103F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1" y="1368823"/>
            <a:ext cx="4859255" cy="430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A542A8-F72C-7C30-1350-BD29CB434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900" y="1690688"/>
            <a:ext cx="4327100" cy="383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32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A109-3E83-2CEC-495D-D5D758BB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6918C-0E27-9139-3DC4-12574216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225"/>
            <a:ext cx="4719909" cy="5073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A7625-23AE-E72B-384D-1DB40977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87" y="1514475"/>
            <a:ext cx="4586996" cy="493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94357C-A5A6-EB71-514A-B34C7CAA2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4" y="1514475"/>
            <a:ext cx="4479189" cy="48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90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FEF6-2344-46E7-C17A-3297737B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wrong with Madison lake producer stability.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4AC7-860A-7DDA-2474-CEFD4806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66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282E-F6BF-BFD1-BF92-A6156B5F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Do we need both bottom-up and top-down controls?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DD682-D16B-9D3D-DF1C-FF383D32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5019"/>
            <a:ext cx="6201235" cy="3559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A737A-1EBE-735F-E699-04DA28523479}"/>
              </a:ext>
            </a:extLst>
          </p:cNvPr>
          <p:cNvSpPr txBox="1"/>
          <p:nvPr/>
        </p:nvSpPr>
        <p:spPr>
          <a:xfrm>
            <a:off x="4724024" y="5657671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Producer stability is NOT correlated with consumer stability for both aquatic and terrestrial ecosystems.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33DF28-D767-EE11-6C3C-C4992B592D8E}"/>
              </a:ext>
            </a:extLst>
          </p:cNvPr>
          <p:cNvGrpSpPr/>
          <p:nvPr/>
        </p:nvGrpSpPr>
        <p:grpSpPr>
          <a:xfrm>
            <a:off x="3119062" y="5075032"/>
            <a:ext cx="733320" cy="758520"/>
            <a:chOff x="3119062" y="5075032"/>
            <a:chExt cx="733320" cy="7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3427AE-9AC5-3365-9E08-2B1600CEFD71}"/>
                    </a:ext>
                  </a:extLst>
                </p14:cNvPr>
                <p14:cNvContentPartPr/>
                <p14:nvPr/>
              </p14:nvContentPartPr>
              <p14:xfrm>
                <a:off x="3119062" y="5075032"/>
                <a:ext cx="733320" cy="427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3427AE-9AC5-3365-9E08-2B1600CEFD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0422" y="5066032"/>
                  <a:ext cx="7509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D77298-D454-8DC1-3707-E7D850BE12E4}"/>
                    </a:ext>
                  </a:extLst>
                </p14:cNvPr>
                <p14:cNvContentPartPr/>
                <p14:nvPr/>
              </p14:nvContentPartPr>
              <p14:xfrm>
                <a:off x="3539542" y="5093032"/>
                <a:ext cx="197640" cy="74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D77298-D454-8DC1-3707-E7D850BE12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30902" y="5084392"/>
                  <a:ext cx="215280" cy="75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CEA592-6C83-E5D4-4F37-C5F744157E56}"/>
                  </a:ext>
                </a:extLst>
              </p14:cNvPr>
              <p14:cNvContentPartPr/>
              <p14:nvPr/>
            </p14:nvContentPartPr>
            <p14:xfrm>
              <a:off x="3736102" y="2291512"/>
              <a:ext cx="350280" cy="335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CEA592-6C83-E5D4-4F37-C5F744157E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7462" y="2282872"/>
                <a:ext cx="367920" cy="3531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4BD86DC-1954-EA43-6275-9AA5DA1787C3}"/>
              </a:ext>
            </a:extLst>
          </p:cNvPr>
          <p:cNvSpPr txBox="1"/>
          <p:nvPr/>
        </p:nvSpPr>
        <p:spPr>
          <a:xfrm>
            <a:off x="7486502" y="1829847"/>
            <a:ext cx="386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Producer richness is correlated with consumer richness for both aquatic and terrestrial ecosystems. </a:t>
            </a:r>
          </a:p>
        </p:txBody>
      </p:sp>
    </p:spTree>
    <p:extLst>
      <p:ext uri="{BB962C8B-B14F-4D97-AF65-F5344CB8AC3E}">
        <p14:creationId xmlns:p14="http://schemas.microsoft.com/office/powerpoint/2010/main" val="41077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E0B3-31B2-C2C9-0647-5DEAB648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Assume only bottom 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35AA-731C-FC7A-B18D-6CB6F533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0" y="1825625"/>
            <a:ext cx="4781550" cy="4351338"/>
          </a:xfrm>
        </p:spPr>
        <p:txBody>
          <a:bodyPr/>
          <a:lstStyle/>
          <a:p>
            <a:r>
              <a:rPr lang="en-US" dirty="0"/>
              <a:t>Use causal inferences: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7945B-290E-DC1A-C31D-9387D78D1289}"/>
              </a:ext>
            </a:extLst>
          </p:cNvPr>
          <p:cNvSpPr txBox="1"/>
          <p:nvPr/>
        </p:nvSpPr>
        <p:spPr>
          <a:xfrm>
            <a:off x="786462" y="1614409"/>
            <a:ext cx="17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Terrestrial: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3F2A0-B8FD-66DB-1BB1-6E37C2FBE487}"/>
              </a:ext>
            </a:extLst>
          </p:cNvPr>
          <p:cNvSpPr/>
          <p:nvPr/>
        </p:nvSpPr>
        <p:spPr>
          <a:xfrm>
            <a:off x="861146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richness</a:t>
            </a:r>
            <a:endParaRPr lang="en-US" b="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08CB47-0C59-0060-2FE9-567858CF9F2F}"/>
              </a:ext>
            </a:extLst>
          </p:cNvPr>
          <p:cNvSpPr/>
          <p:nvPr/>
        </p:nvSpPr>
        <p:spPr>
          <a:xfrm>
            <a:off x="861146" y="4107440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stability</a:t>
            </a:r>
            <a:endParaRPr lang="en-US" b="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AD9742-D5C7-8C96-EE46-CB92F29FCB60}"/>
              </a:ext>
            </a:extLst>
          </p:cNvPr>
          <p:cNvSpPr/>
          <p:nvPr/>
        </p:nvSpPr>
        <p:spPr>
          <a:xfrm>
            <a:off x="3483119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richness</a:t>
            </a:r>
            <a:endParaRPr lang="en-US" b="0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9FAFD-7E04-05A6-C1BD-0A98EE60295F}"/>
              </a:ext>
            </a:extLst>
          </p:cNvPr>
          <p:cNvSpPr/>
          <p:nvPr/>
        </p:nvSpPr>
        <p:spPr>
          <a:xfrm>
            <a:off x="3483119" y="410743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stability</a:t>
            </a:r>
            <a:endParaRPr lang="en-US" b="0" dirty="0">
              <a:effectLst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B83791-0FBD-C695-6643-E62B10D68F5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529628" y="3429000"/>
            <a:ext cx="0" cy="678440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4AAED6-4055-7AA5-195A-36216FD5B70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198110" y="3075710"/>
            <a:ext cx="1285009" cy="1031729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B7BA51-BB9A-D46E-57C5-91A989256F60}"/>
              </a:ext>
            </a:extLst>
          </p:cNvPr>
          <p:cNvCxnSpPr/>
          <p:nvPr/>
        </p:nvCxnSpPr>
        <p:spPr>
          <a:xfrm>
            <a:off x="4151601" y="3428999"/>
            <a:ext cx="0" cy="67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CD06DC-70AC-94AD-04D0-C6E9CF5E546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98110" y="3075710"/>
            <a:ext cx="1310554" cy="103172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B599D8-E44C-3B51-F153-A1785B099C2D}"/>
              </a:ext>
            </a:extLst>
          </p:cNvPr>
          <p:cNvCxnSpPr>
            <a:cxnSpLocks/>
          </p:cNvCxnSpPr>
          <p:nvPr/>
        </p:nvCxnSpPr>
        <p:spPr>
          <a:xfrm flipV="1">
            <a:off x="2198110" y="2855941"/>
            <a:ext cx="1285009" cy="25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CE7438-2C80-A373-A921-6BB0DA8E79BC}"/>
              </a:ext>
            </a:extLst>
          </p:cNvPr>
          <p:cNvSpPr txBox="1"/>
          <p:nvPr/>
        </p:nvSpPr>
        <p:spPr>
          <a:xfrm>
            <a:off x="2566123" y="2318015"/>
            <a:ext cx="94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42901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2C41-7BB8-4CA0-B156-A6E58755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627"/>
            <a:ext cx="10515600" cy="1031729"/>
          </a:xfrm>
        </p:spPr>
        <p:txBody>
          <a:bodyPr>
            <a:normAutofit/>
          </a:bodyPr>
          <a:lstStyle/>
          <a:p>
            <a:r>
              <a:rPr lang="en-US" sz="4000" dirty="0"/>
              <a:t>Spatial method—consumers by all the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D5F7D6-C0A6-B6B5-A591-40F2471E36F3}"/>
              </a:ext>
            </a:extLst>
          </p:cNvPr>
          <p:cNvSpPr/>
          <p:nvPr/>
        </p:nvSpPr>
        <p:spPr>
          <a:xfrm>
            <a:off x="852055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richness</a:t>
            </a:r>
            <a:endParaRPr lang="en-US" b="0" dirty="0"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CDB3C8-9CF4-18B2-6CD6-A2447140027A}"/>
              </a:ext>
            </a:extLst>
          </p:cNvPr>
          <p:cNvSpPr/>
          <p:nvPr/>
        </p:nvSpPr>
        <p:spPr>
          <a:xfrm>
            <a:off x="852055" y="4107440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stability</a:t>
            </a:r>
            <a:endParaRPr lang="en-US" b="0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E19CCC-9E57-4B09-288F-E4D58A50DB77}"/>
              </a:ext>
            </a:extLst>
          </p:cNvPr>
          <p:cNvSpPr/>
          <p:nvPr/>
        </p:nvSpPr>
        <p:spPr>
          <a:xfrm>
            <a:off x="3193473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richness</a:t>
            </a:r>
            <a:endParaRPr lang="en-US" b="0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803DBE-F731-D5B7-E0D8-01A6F1F2E274}"/>
              </a:ext>
            </a:extLst>
          </p:cNvPr>
          <p:cNvSpPr/>
          <p:nvPr/>
        </p:nvSpPr>
        <p:spPr>
          <a:xfrm>
            <a:off x="3193473" y="410743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stability</a:t>
            </a:r>
            <a:endParaRPr lang="en-US" b="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74AB6-6C62-3EAB-76C6-147584E090B3}"/>
              </a:ext>
            </a:extLst>
          </p:cNvPr>
          <p:cNvSpPr txBox="1"/>
          <p:nvPr/>
        </p:nvSpPr>
        <p:spPr>
          <a:xfrm>
            <a:off x="838200" y="1594266"/>
            <a:ext cx="131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Aquatic: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186A61-B999-4A94-C5A3-E5AFE839F0A7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1520537" y="3429000"/>
            <a:ext cx="0" cy="6784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23DE4F-750A-69A9-0A64-9C7F0BF4A240}"/>
              </a:ext>
            </a:extLst>
          </p:cNvPr>
          <p:cNvSpPr txBox="1"/>
          <p:nvPr/>
        </p:nvSpPr>
        <p:spPr>
          <a:xfrm>
            <a:off x="550718" y="3583554"/>
            <a:ext cx="109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0.567 (*)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CE08BE-4C20-6DBA-E865-2D38A547558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154382" y="3075710"/>
            <a:ext cx="1039091" cy="1031729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1FD157-C80E-D68B-9E19-8FEDBD7A1B78}"/>
              </a:ext>
            </a:extLst>
          </p:cNvPr>
          <p:cNvCxnSpPr/>
          <p:nvPr/>
        </p:nvCxnSpPr>
        <p:spPr>
          <a:xfrm>
            <a:off x="3861955" y="3428999"/>
            <a:ext cx="0" cy="67844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DE947D-A976-F03B-C1E5-30976CC069BE}"/>
              </a:ext>
            </a:extLst>
          </p:cNvPr>
          <p:cNvSpPr txBox="1"/>
          <p:nvPr/>
        </p:nvSpPr>
        <p:spPr>
          <a:xfrm>
            <a:off x="3810432" y="3591573"/>
            <a:ext cx="105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1.828(*)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CE0397-3B9D-554F-0B10-1077CBB8AA1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189019" y="3075710"/>
            <a:ext cx="969818" cy="103172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0ACD6B-9C28-EAB7-122A-8C096835381D}"/>
              </a:ext>
            </a:extLst>
          </p:cNvPr>
          <p:cNvSpPr txBox="1"/>
          <p:nvPr/>
        </p:nvSpPr>
        <p:spPr>
          <a:xfrm>
            <a:off x="6592379" y="1498364"/>
            <a:ext cx="17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Terrestrial: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5E13FB-6A77-10D1-AD92-8294F186B476}"/>
              </a:ext>
            </a:extLst>
          </p:cNvPr>
          <p:cNvSpPr/>
          <p:nvPr/>
        </p:nvSpPr>
        <p:spPr>
          <a:xfrm>
            <a:off x="6504708" y="272241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richness</a:t>
            </a:r>
            <a:endParaRPr lang="en-US" b="0" dirty="0"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546E7A-2381-8D8C-F46B-AFAFD1081867}"/>
              </a:ext>
            </a:extLst>
          </p:cNvPr>
          <p:cNvSpPr/>
          <p:nvPr/>
        </p:nvSpPr>
        <p:spPr>
          <a:xfrm>
            <a:off x="6504708" y="410743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stability</a:t>
            </a:r>
            <a:endParaRPr lang="en-US" b="0" dirty="0"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EA398D-F573-5FB2-6C14-9C9944EF3153}"/>
              </a:ext>
            </a:extLst>
          </p:cNvPr>
          <p:cNvSpPr/>
          <p:nvPr/>
        </p:nvSpPr>
        <p:spPr>
          <a:xfrm>
            <a:off x="8846126" y="272241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richness</a:t>
            </a:r>
            <a:endParaRPr lang="en-US" b="0" dirty="0">
              <a:effectLst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B1AD69-EB97-01A9-03E4-7D5E677D096C}"/>
              </a:ext>
            </a:extLst>
          </p:cNvPr>
          <p:cNvSpPr/>
          <p:nvPr/>
        </p:nvSpPr>
        <p:spPr>
          <a:xfrm>
            <a:off x="8846126" y="410743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Consumer stability</a:t>
            </a:r>
            <a:endParaRPr lang="en-US" b="0" dirty="0">
              <a:effectLst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441192-0FC7-2B66-C521-32BF47378AC8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7173190" y="3428999"/>
            <a:ext cx="0" cy="678440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7A8EDC7-E1C8-5F70-C7FA-71F70C92443A}"/>
              </a:ext>
            </a:extLst>
          </p:cNvPr>
          <p:cNvSpPr txBox="1"/>
          <p:nvPr/>
        </p:nvSpPr>
        <p:spPr>
          <a:xfrm>
            <a:off x="6391499" y="3583552"/>
            <a:ext cx="77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0.182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51FDEA-C8BB-9F86-FF32-BD7E0D77B378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807035" y="3075709"/>
            <a:ext cx="1039091" cy="1031729"/>
          </a:xfrm>
          <a:prstGeom prst="straightConnector1">
            <a:avLst/>
          </a:prstGeom>
          <a:ln w="31750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CB7BCA-EB3D-F639-56AD-7B2D474AC83A}"/>
              </a:ext>
            </a:extLst>
          </p:cNvPr>
          <p:cNvCxnSpPr/>
          <p:nvPr/>
        </p:nvCxnSpPr>
        <p:spPr>
          <a:xfrm>
            <a:off x="9514608" y="3428998"/>
            <a:ext cx="0" cy="67844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E7782FF-C991-9818-2F6A-4AD2CCCEB608}"/>
              </a:ext>
            </a:extLst>
          </p:cNvPr>
          <p:cNvSpPr txBox="1"/>
          <p:nvPr/>
        </p:nvSpPr>
        <p:spPr>
          <a:xfrm>
            <a:off x="9552707" y="3591573"/>
            <a:ext cx="119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0.426(.)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05A72D-F6B2-4457-E252-601E029894F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841672" y="3075709"/>
            <a:ext cx="969818" cy="1031729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43E8125-C684-DC6B-12EB-798D80C02E85}"/>
              </a:ext>
            </a:extLst>
          </p:cNvPr>
          <p:cNvSpPr txBox="1"/>
          <p:nvPr/>
        </p:nvSpPr>
        <p:spPr>
          <a:xfrm>
            <a:off x="7161500" y="3540905"/>
            <a:ext cx="107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-0.717(*)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9FBBA3-D1D6-38E4-4593-C0848A671DED}"/>
              </a:ext>
            </a:extLst>
          </p:cNvPr>
          <p:cNvSpPr txBox="1"/>
          <p:nvPr/>
        </p:nvSpPr>
        <p:spPr>
          <a:xfrm>
            <a:off x="8517300" y="3614708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-0.302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DF5C19-B2B9-88EF-A5EE-7C614566039A}"/>
              </a:ext>
            </a:extLst>
          </p:cNvPr>
          <p:cNvSpPr txBox="1"/>
          <p:nvPr/>
        </p:nvSpPr>
        <p:spPr>
          <a:xfrm>
            <a:off x="1714287" y="3583552"/>
            <a:ext cx="969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0.049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D6799F-071A-0FC8-3CF8-86BD10E98673}"/>
              </a:ext>
            </a:extLst>
          </p:cNvPr>
          <p:cNvSpPr txBox="1"/>
          <p:nvPr/>
        </p:nvSpPr>
        <p:spPr>
          <a:xfrm>
            <a:off x="2866272" y="3583552"/>
            <a:ext cx="84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-0.091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6061F2C-D53E-59B8-0E14-22FB7E42F43F}"/>
              </a:ext>
            </a:extLst>
          </p:cNvPr>
          <p:cNvCxnSpPr>
            <a:cxnSpLocks/>
          </p:cNvCxnSpPr>
          <p:nvPr/>
        </p:nvCxnSpPr>
        <p:spPr>
          <a:xfrm flipH="1" flipV="1">
            <a:off x="2199196" y="2327558"/>
            <a:ext cx="959641" cy="2881"/>
          </a:xfrm>
          <a:prstGeom prst="straightConnector1">
            <a:avLst/>
          </a:prstGeom>
          <a:ln w="6350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951A84-EFC9-D011-FD73-791C9FA7D824}"/>
              </a:ext>
            </a:extLst>
          </p:cNvPr>
          <p:cNvCxnSpPr>
            <a:cxnSpLocks/>
          </p:cNvCxnSpPr>
          <p:nvPr/>
        </p:nvCxnSpPr>
        <p:spPr>
          <a:xfrm>
            <a:off x="2284918" y="2510712"/>
            <a:ext cx="979450" cy="0"/>
          </a:xfrm>
          <a:prstGeom prst="straightConnector1">
            <a:avLst/>
          </a:prstGeom>
          <a:ln w="158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A3E316-CD3B-06EE-742B-3B3B3F07B516}"/>
              </a:ext>
            </a:extLst>
          </p:cNvPr>
          <p:cNvCxnSpPr>
            <a:cxnSpLocks/>
          </p:cNvCxnSpPr>
          <p:nvPr/>
        </p:nvCxnSpPr>
        <p:spPr>
          <a:xfrm flipH="1" flipV="1">
            <a:off x="7926316" y="2393459"/>
            <a:ext cx="959641" cy="2881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285C4C3-A7A7-FEB8-4B1C-376FCC3F0C50}"/>
              </a:ext>
            </a:extLst>
          </p:cNvPr>
          <p:cNvSpPr txBox="1"/>
          <p:nvPr/>
        </p:nvSpPr>
        <p:spPr>
          <a:xfrm>
            <a:off x="8139549" y="2043980"/>
            <a:ext cx="77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0.450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D0323F0-3342-7AE0-DD08-C182540E39DA}"/>
              </a:ext>
            </a:extLst>
          </p:cNvPr>
          <p:cNvCxnSpPr>
            <a:cxnSpLocks/>
          </p:cNvCxnSpPr>
          <p:nvPr/>
        </p:nvCxnSpPr>
        <p:spPr>
          <a:xfrm>
            <a:off x="8119740" y="2569906"/>
            <a:ext cx="979450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B5FD799-5C14-D530-C845-FE262E107835}"/>
              </a:ext>
            </a:extLst>
          </p:cNvPr>
          <p:cNvSpPr txBox="1"/>
          <p:nvPr/>
        </p:nvSpPr>
        <p:spPr>
          <a:xfrm>
            <a:off x="9099190" y="2279820"/>
            <a:ext cx="77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0.183</a:t>
            </a:r>
          </a:p>
        </p:txBody>
      </p:sp>
    </p:spTree>
    <p:extLst>
      <p:ext uri="{BB962C8B-B14F-4D97-AF65-F5344CB8AC3E}">
        <p14:creationId xmlns:p14="http://schemas.microsoft.com/office/powerpoint/2010/main" val="2253042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DD16-1C49-3ACA-97DC-CF044B16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533"/>
            <a:ext cx="10515600" cy="1325563"/>
          </a:xfrm>
        </p:spPr>
        <p:txBody>
          <a:bodyPr/>
          <a:lstStyle/>
          <a:p>
            <a:r>
              <a:rPr lang="en-US" sz="4400" dirty="0"/>
              <a:t>Spatial method—herbivores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D9219-7351-02C7-9988-E8BEF4E7396B}"/>
              </a:ext>
            </a:extLst>
          </p:cNvPr>
          <p:cNvSpPr/>
          <p:nvPr/>
        </p:nvSpPr>
        <p:spPr>
          <a:xfrm>
            <a:off x="852055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richness</a:t>
            </a:r>
            <a:endParaRPr lang="en-US" b="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D27997-B0FF-4618-2FF8-705FA8863185}"/>
              </a:ext>
            </a:extLst>
          </p:cNvPr>
          <p:cNvSpPr/>
          <p:nvPr/>
        </p:nvSpPr>
        <p:spPr>
          <a:xfrm>
            <a:off x="852055" y="4107440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stability</a:t>
            </a:r>
            <a:endParaRPr lang="en-US" b="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4D887-F85E-D980-1C6A-DDF10A454AFB}"/>
              </a:ext>
            </a:extLst>
          </p:cNvPr>
          <p:cNvSpPr/>
          <p:nvPr/>
        </p:nvSpPr>
        <p:spPr>
          <a:xfrm>
            <a:off x="3193473" y="272241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Herbivore richness</a:t>
            </a:r>
            <a:endParaRPr lang="en-US" b="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43DC1B-CCC8-6A9C-1C78-B70B07DD2BCB}"/>
              </a:ext>
            </a:extLst>
          </p:cNvPr>
          <p:cNvSpPr/>
          <p:nvPr/>
        </p:nvSpPr>
        <p:spPr>
          <a:xfrm>
            <a:off x="3193473" y="410743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Herbivore stability</a:t>
            </a:r>
            <a:endParaRPr lang="en-US" b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F9093-EA2A-E41E-7E51-97B8DD44EEA5}"/>
              </a:ext>
            </a:extLst>
          </p:cNvPr>
          <p:cNvSpPr txBox="1"/>
          <p:nvPr/>
        </p:nvSpPr>
        <p:spPr>
          <a:xfrm>
            <a:off x="838200" y="1594266"/>
            <a:ext cx="131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Aquatic: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950AA-37EE-5549-1A85-19A02014E7D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520537" y="3429000"/>
            <a:ext cx="0" cy="6784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049291-44B3-031C-72DF-C124D606D6D8}"/>
              </a:ext>
            </a:extLst>
          </p:cNvPr>
          <p:cNvSpPr txBox="1"/>
          <p:nvPr/>
        </p:nvSpPr>
        <p:spPr>
          <a:xfrm>
            <a:off x="550718" y="3583554"/>
            <a:ext cx="109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0.553 (*)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B0A455-C167-040E-A1BE-3FB19D4F7FB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154382" y="3075710"/>
            <a:ext cx="1039091" cy="1031729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DB1B7D-A0D1-578C-AAEE-B25A8ECDA985}"/>
              </a:ext>
            </a:extLst>
          </p:cNvPr>
          <p:cNvCxnSpPr/>
          <p:nvPr/>
        </p:nvCxnSpPr>
        <p:spPr>
          <a:xfrm>
            <a:off x="3861955" y="3428999"/>
            <a:ext cx="0" cy="67844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7EC19B-2B6F-741E-EC8E-34F434F5592A}"/>
              </a:ext>
            </a:extLst>
          </p:cNvPr>
          <p:cNvSpPr txBox="1"/>
          <p:nvPr/>
        </p:nvSpPr>
        <p:spPr>
          <a:xfrm>
            <a:off x="3839008" y="3591573"/>
            <a:ext cx="105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0.958(*)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9EEB46-9C1B-EEDD-F92E-7CC77C808E2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89019" y="3075710"/>
            <a:ext cx="969818" cy="103172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C13CCC-FCDD-CA98-062F-AC5BDB07F4A0}"/>
              </a:ext>
            </a:extLst>
          </p:cNvPr>
          <p:cNvSpPr txBox="1"/>
          <p:nvPr/>
        </p:nvSpPr>
        <p:spPr>
          <a:xfrm>
            <a:off x="6592379" y="1498364"/>
            <a:ext cx="17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Terrestrial: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BC6147-5193-3433-3849-8523FD64671F}"/>
              </a:ext>
            </a:extLst>
          </p:cNvPr>
          <p:cNvSpPr/>
          <p:nvPr/>
        </p:nvSpPr>
        <p:spPr>
          <a:xfrm>
            <a:off x="6504708" y="272241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richness</a:t>
            </a:r>
            <a:endParaRPr lang="en-US" b="0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A91E5-D82B-6143-A5A3-13FE3B5E8FA6}"/>
              </a:ext>
            </a:extLst>
          </p:cNvPr>
          <p:cNvSpPr/>
          <p:nvPr/>
        </p:nvSpPr>
        <p:spPr>
          <a:xfrm>
            <a:off x="6504708" y="4107439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Producer</a:t>
            </a:r>
            <a:endParaRPr lang="en-US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196742"/>
                </a:solidFill>
                <a:effectLst/>
                <a:latin typeface="Arial" panose="020B0604020202020204" pitchFamily="34" charset="0"/>
              </a:rPr>
              <a:t>stability</a:t>
            </a:r>
            <a:endParaRPr lang="en-US" b="0" dirty="0"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023138-602D-8746-4345-0D484386C8B0}"/>
              </a:ext>
            </a:extLst>
          </p:cNvPr>
          <p:cNvSpPr/>
          <p:nvPr/>
        </p:nvSpPr>
        <p:spPr>
          <a:xfrm>
            <a:off x="8846126" y="272241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Herbivore richness</a:t>
            </a:r>
            <a:endParaRPr lang="en-US" b="0" dirty="0"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2785D-E414-0A5C-5497-A06D0612F8C8}"/>
              </a:ext>
            </a:extLst>
          </p:cNvPr>
          <p:cNvSpPr/>
          <p:nvPr/>
        </p:nvSpPr>
        <p:spPr>
          <a:xfrm>
            <a:off x="8846126" y="4107438"/>
            <a:ext cx="1336964" cy="706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Herbivore stability</a:t>
            </a:r>
            <a:endParaRPr lang="en-US" b="0" dirty="0">
              <a:effectLst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8243DA-B91F-0A83-58AF-963573586F32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7173190" y="3428999"/>
            <a:ext cx="0" cy="678440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E36DDC-AA47-D86D-9D8C-B8A8A172CC34}"/>
              </a:ext>
            </a:extLst>
          </p:cNvPr>
          <p:cNvSpPr txBox="1"/>
          <p:nvPr/>
        </p:nvSpPr>
        <p:spPr>
          <a:xfrm>
            <a:off x="6303387" y="3554977"/>
            <a:ext cx="77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0.200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4E16FA5-4131-2873-0B42-1C374F3182CC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807035" y="3075709"/>
            <a:ext cx="1039091" cy="1031729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F6C469-041F-1620-15C5-A20F25C5564E}"/>
              </a:ext>
            </a:extLst>
          </p:cNvPr>
          <p:cNvCxnSpPr/>
          <p:nvPr/>
        </p:nvCxnSpPr>
        <p:spPr>
          <a:xfrm>
            <a:off x="9514608" y="3428998"/>
            <a:ext cx="0" cy="67844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9915BB-8E81-8D34-DA05-526CA27ACCB1}"/>
              </a:ext>
            </a:extLst>
          </p:cNvPr>
          <p:cNvSpPr txBox="1"/>
          <p:nvPr/>
        </p:nvSpPr>
        <p:spPr>
          <a:xfrm>
            <a:off x="9495555" y="3591573"/>
            <a:ext cx="119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0.384(*)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B7841C-E6FF-01AC-7722-D8CE31139C0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841672" y="3075709"/>
            <a:ext cx="969818" cy="1031729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DDE387F-4A95-286D-0483-9DB4519032F0}"/>
              </a:ext>
            </a:extLst>
          </p:cNvPr>
          <p:cNvSpPr txBox="1"/>
          <p:nvPr/>
        </p:nvSpPr>
        <p:spPr>
          <a:xfrm>
            <a:off x="7175788" y="3540905"/>
            <a:ext cx="107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-0.629(*)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DCED1F-61F3-DD7B-85FD-E8E73007CA27}"/>
              </a:ext>
            </a:extLst>
          </p:cNvPr>
          <p:cNvSpPr txBox="1"/>
          <p:nvPr/>
        </p:nvSpPr>
        <p:spPr>
          <a:xfrm>
            <a:off x="8438284" y="3591573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864ECC-EEC6-6639-D64C-27B53AE127DD}"/>
              </a:ext>
            </a:extLst>
          </p:cNvPr>
          <p:cNvSpPr txBox="1"/>
          <p:nvPr/>
        </p:nvSpPr>
        <p:spPr>
          <a:xfrm>
            <a:off x="1714287" y="3583552"/>
            <a:ext cx="969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0.098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61CEEB-0A83-31EB-06D9-01CA368777F9}"/>
              </a:ext>
            </a:extLst>
          </p:cNvPr>
          <p:cNvSpPr txBox="1"/>
          <p:nvPr/>
        </p:nvSpPr>
        <p:spPr>
          <a:xfrm>
            <a:off x="2866272" y="3583552"/>
            <a:ext cx="84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0.032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9202E7-D182-5A31-08DF-082B3454EAA6}"/>
              </a:ext>
            </a:extLst>
          </p:cNvPr>
          <p:cNvCxnSpPr>
            <a:cxnSpLocks/>
          </p:cNvCxnSpPr>
          <p:nvPr/>
        </p:nvCxnSpPr>
        <p:spPr>
          <a:xfrm flipH="1" flipV="1">
            <a:off x="2199196" y="2327558"/>
            <a:ext cx="959641" cy="2881"/>
          </a:xfrm>
          <a:prstGeom prst="straightConnector1">
            <a:avLst/>
          </a:prstGeom>
          <a:ln w="6350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F92CCD-BF05-89B3-BD47-43DDC18FB5F1}"/>
              </a:ext>
            </a:extLst>
          </p:cNvPr>
          <p:cNvCxnSpPr>
            <a:cxnSpLocks/>
          </p:cNvCxnSpPr>
          <p:nvPr/>
        </p:nvCxnSpPr>
        <p:spPr>
          <a:xfrm>
            <a:off x="2284918" y="2510712"/>
            <a:ext cx="979450" cy="0"/>
          </a:xfrm>
          <a:prstGeom prst="straightConnector1">
            <a:avLst/>
          </a:prstGeom>
          <a:ln w="158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98E9AC-C16F-7641-9668-F69716990247}"/>
              </a:ext>
            </a:extLst>
          </p:cNvPr>
          <p:cNvCxnSpPr>
            <a:cxnSpLocks/>
          </p:cNvCxnSpPr>
          <p:nvPr/>
        </p:nvCxnSpPr>
        <p:spPr>
          <a:xfrm flipH="1" flipV="1">
            <a:off x="7926316" y="2393459"/>
            <a:ext cx="959641" cy="2881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30C969-0BA9-BFD6-8499-32E17700D8F9}"/>
              </a:ext>
            </a:extLst>
          </p:cNvPr>
          <p:cNvSpPr txBox="1"/>
          <p:nvPr/>
        </p:nvSpPr>
        <p:spPr>
          <a:xfrm>
            <a:off x="8139549" y="2043980"/>
            <a:ext cx="77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0.450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6E24EAD-EDC0-CCB1-79B5-33594B6FC7AF}"/>
              </a:ext>
            </a:extLst>
          </p:cNvPr>
          <p:cNvCxnSpPr>
            <a:cxnSpLocks/>
          </p:cNvCxnSpPr>
          <p:nvPr/>
        </p:nvCxnSpPr>
        <p:spPr>
          <a:xfrm>
            <a:off x="8119740" y="2569906"/>
            <a:ext cx="979450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687A5F6-B0D7-8705-3BB8-2169494D4B39}"/>
              </a:ext>
            </a:extLst>
          </p:cNvPr>
          <p:cNvSpPr txBox="1"/>
          <p:nvPr/>
        </p:nvSpPr>
        <p:spPr>
          <a:xfrm>
            <a:off x="9099190" y="2279820"/>
            <a:ext cx="77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0.183</a:t>
            </a:r>
          </a:p>
        </p:txBody>
      </p:sp>
    </p:spTree>
    <p:extLst>
      <p:ext uri="{BB962C8B-B14F-4D97-AF65-F5344CB8AC3E}">
        <p14:creationId xmlns:p14="http://schemas.microsoft.com/office/powerpoint/2010/main" val="3282357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0559-DD4D-4915-8AF0-AD97E8A0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inconsistent with my expectation?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D1FD-E8AE-EDAB-6BB5-501FB798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 results are surprisingly similar.</a:t>
            </a:r>
          </a:p>
          <a:p>
            <a:endParaRPr lang="en-US" dirty="0"/>
          </a:p>
          <a:p>
            <a:r>
              <a:rPr lang="en-US" dirty="0"/>
              <a:t>Cross-trophic effects are stronger in terrestrial ecosystems than in aquatic ecosystems. This is unbelievable. </a:t>
            </a:r>
          </a:p>
          <a:p>
            <a:endParaRPr lang="en-US" dirty="0"/>
          </a:p>
          <a:p>
            <a:r>
              <a:rPr lang="en-US" dirty="0"/>
              <a:t>When using herbivores cross-trophic relationships remain the same.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59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F666-3EF9-89D5-60E3-BA6A1AA4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method</a:t>
            </a:r>
            <a:r>
              <a:rPr lang="en-US" sz="4400" dirty="0"/>
              <a:t> —consumers by all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A862-5699-C28F-746F-1CB2CED88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would expect that these relationships would be weaker than the spatial method.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62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0528-0C5D-E961-A82C-662AFA96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0638-22FB-322C-23C1-57934AC0B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need get some statistics for herbivore data, so that to show why we got the similar results?</a:t>
            </a:r>
          </a:p>
          <a:p>
            <a:r>
              <a:rPr lang="en-US" dirty="0"/>
              <a:t>I remember that one terrestrial site has no herbivore data??</a:t>
            </a:r>
          </a:p>
        </p:txBody>
      </p:sp>
    </p:spTree>
    <p:extLst>
      <p:ext uri="{BB962C8B-B14F-4D97-AF65-F5344CB8AC3E}">
        <p14:creationId xmlns:p14="http://schemas.microsoft.com/office/powerpoint/2010/main" val="972081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86EF-6C4B-92E5-2B30-8C206676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Hypothesis: if we use herbivore, we should see stronger cross-trophic relationships.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BCA5C-2FBD-4ECC-9182-484A32A1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49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3C10-C4B2-67DF-F296-403F8A00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and temporal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BDB5-CEC1-2596-F097-8D6E6F832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4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9736-C547-8129-A322-9235BE81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hypothesis of across-trophic relationships?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D923-B65E-CAE9-879A-5EC0A9E61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11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15CC-D9EC-D66F-6043-82FD6F14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sites have two sets of consumers.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2974-6F0F-1052-FECA-B49669D03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SBC: use fish</a:t>
            </a:r>
          </a:p>
          <a:p>
            <a:r>
              <a:rPr lang="en-US" dirty="0"/>
              <a:t>MCR: </a:t>
            </a:r>
          </a:p>
        </p:txBody>
      </p:sp>
    </p:spTree>
    <p:extLst>
      <p:ext uri="{BB962C8B-B14F-4D97-AF65-F5344CB8AC3E}">
        <p14:creationId xmlns:p14="http://schemas.microsoft.com/office/powerpoint/2010/main" val="1893302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CAEF-AD4E-5FE2-F93F-EC3AFE6B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to specify priors for brms models to ensure using non-informative priors.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EB56-48AF-7D05-70CC-5C372438F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407</Words>
  <Application>Microsoft Macintosh PowerPoint</Application>
  <PresentationFormat>Widescreen</PresentationFormat>
  <Paragraphs>105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Diversity-stability relationships</vt:lpstr>
      <vt:lpstr>KBS</vt:lpstr>
      <vt:lpstr>KNZ</vt:lpstr>
      <vt:lpstr>CDR_oldField</vt:lpstr>
      <vt:lpstr>JNR</vt:lpstr>
      <vt:lpstr>bex_he  (habitat fine is empty)</vt:lpstr>
      <vt:lpstr>bex_ae</vt:lpstr>
      <vt:lpstr>bex_se</vt:lpstr>
      <vt:lpstr>ADK----use total richness have worse results we cannot use this!</vt:lpstr>
      <vt:lpstr>ADK--use plot-annual-average richness have better results</vt:lpstr>
      <vt:lpstr>USVI</vt:lpstr>
      <vt:lpstr>MCR-fish</vt:lpstr>
      <vt:lpstr>SBC</vt:lpstr>
      <vt:lpstr>AIMS</vt:lpstr>
      <vt:lpstr>GCE data</vt:lpstr>
      <vt:lpstr>Something wrong with Madison lake producer stability.</vt:lpstr>
      <vt:lpstr>Do we need both bottom-up and top-down controls?</vt:lpstr>
      <vt:lpstr>Assume only bottom up?</vt:lpstr>
      <vt:lpstr>Spatial method—consumers by all the data</vt:lpstr>
      <vt:lpstr>Spatial method—herbivores</vt:lpstr>
      <vt:lpstr>What are inconsistent with my expectation?</vt:lpstr>
      <vt:lpstr>Temporal method —consumers by all data</vt:lpstr>
      <vt:lpstr>discussion</vt:lpstr>
      <vt:lpstr>Hypothesis: if we use herbivore, we should see stronger cross-trophic relationships. </vt:lpstr>
      <vt:lpstr>Spatial and temporal models</vt:lpstr>
      <vt:lpstr>What are the hypothesis of across-trophic relationships?</vt:lpstr>
      <vt:lpstr>Some sites have two sets of consumers. </vt:lpstr>
      <vt:lpstr>We need to specify priors for brms models to ensure using non-informative priors.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Diversity-stability relationships</dc:title>
  <dc:creator>waing wang</dc:creator>
  <cp:lastModifiedBy>waing wang</cp:lastModifiedBy>
  <cp:revision>161</cp:revision>
  <dcterms:created xsi:type="dcterms:W3CDTF">2025-11-18T12:38:38Z</dcterms:created>
  <dcterms:modified xsi:type="dcterms:W3CDTF">2025-12-09T09:34:48Z</dcterms:modified>
</cp:coreProperties>
</file>